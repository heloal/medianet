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965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Modulo 2. En la Sesion 1 llenamos Bronze; en la Sesion 2 construimos Silver y Gold. Hoy conectamos todo en un pipeline que corre solo, con triggers y manejo de errores.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6400800"/>
          </a:xfrm>
          <a:prstGeom prst="ellipse">
            <a:avLst/>
          </a:prstGeom>
          <a:solidFill>
            <a:srgbClr val="0E2E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" y="74112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INGENIERIA DE DATOS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Construccion de Pipelines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3 · Orquestando todo el flujo: Ingesta + Transformaciones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3 · 2 HORAS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piezas sueltas (notebooks, dataflows, copy data) a un flujo automatizado.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194108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4650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856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Dataflows vs Pipelines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1854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transformar y cuando orquestar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" y="2404872"/>
            <a:ext cx="0" cy="256032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548640" y="2660904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" y="2727472"/>
            <a:ext cx="378927" cy="3789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253288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34440" y="26426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 Gen2 reutilizable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23444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Practica: construir dim_fecha como pieza compartida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4672" y="3191256"/>
            <a:ext cx="0" cy="256032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7"/>
          <p:cNvSpPr/>
          <p:nvPr/>
        </p:nvSpPr>
        <p:spPr>
          <a:xfrm>
            <a:off x="548640" y="3447288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" y="3513856"/>
            <a:ext cx="378927" cy="37892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640" y="331927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2344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un Pipeline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234440" y="375818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Actividades, control de flujo, triggers y parametros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04672" y="3977640"/>
            <a:ext cx="0" cy="256032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4"/>
          <p:cNvSpPr/>
          <p:nvPr/>
        </p:nvSpPr>
        <p:spPr>
          <a:xfrm>
            <a:off x="548640" y="4233672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8" y="4300240"/>
            <a:ext cx="378927" cy="37892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" y="410565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234440" y="42153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maestro end-to-end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1234440" y="4544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Practica: orquestar todo el Modulo 2 en un solo flujo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04672" y="4764024"/>
            <a:ext cx="0" cy="256032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Shape 31"/>
          <p:cNvSpPr/>
          <p:nvPr/>
        </p:nvSpPr>
        <p:spPr>
          <a:xfrm>
            <a:off x="548640" y="5020056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8" y="5086624"/>
            <a:ext cx="378927" cy="378927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48640" y="489204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234440" y="5001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practicas de orquestacion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1234440" y="53309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Errores, alertas, idempotencia y cierre del modulo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Construccion de Pipelines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Dataflows vs. Pipelines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piezas distintas del mismo rompecabezas: transformar y orquestar.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377440" cy="658368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26080" y="1874520"/>
            <a:ext cx="4297680" cy="658368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3063240" y="18745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 Gen2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23760" y="1874520"/>
            <a:ext cx="4389120" cy="658368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7360920" y="18745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85800" y="25877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587752"/>
            <a:ext cx="42976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063240" y="25877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datos: el “que”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2587752"/>
            <a:ext cx="43891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7360920" y="25877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Orquestar y mover datos: el “cuando y en que orden”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00984"/>
            <a:ext cx="2377440" cy="658368"/>
          </a:xfrm>
          <a:prstGeom prst="rect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85800" y="33009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trabajo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300984"/>
            <a:ext cx="4297680" cy="658368"/>
          </a:xfrm>
          <a:prstGeom prst="rect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063240" y="330098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Power Query (M)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3300984"/>
            <a:ext cx="4389120" cy="658368"/>
          </a:xfrm>
          <a:prstGeom prst="rect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7360920" y="33009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 Copy Data, Notebook, Dataflow, Stored Procedure...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85800" y="40142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4014216"/>
            <a:ext cx="42976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3063240" y="401421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invoca desde uno o varios pipelines/reports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4014216"/>
            <a:ext cx="43891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7360920" y="40142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multiples pasos, con dependencias entre ellos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727448"/>
            <a:ext cx="2377440" cy="658368"/>
          </a:xfrm>
          <a:prstGeom prst="rect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685800" y="47274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0" y="4727448"/>
            <a:ext cx="4297680" cy="658368"/>
          </a:xfrm>
          <a:prstGeom prst="rect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3063240" y="472744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manual o programado propio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23760" y="4727448"/>
            <a:ext cx="4389120" cy="658368"/>
          </a:xfrm>
          <a:prstGeom prst="rect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7360920" y="472744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Tumbling window, evento o ejecucion manual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685800" y="54406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cuando...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26080" y="5440680"/>
            <a:ext cx="42976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3063240" y="54406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logica de transformacion se repite en varios lugares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23760" y="5440680"/>
            <a:ext cx="438912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7360920" y="54406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flujo multi-paso con dependencias y manejo de errores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Construccion de Pipelines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1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 Gen2 reutilizable: dim_fecha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tabla calendario como pieza compartida, invocable desde cualquier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530" y="58613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74520"/>
            <a:ext cx="10881360" cy="4480560"/>
          </a:xfrm>
          <a:prstGeom prst="roundRect">
            <a:avLst>
              <a:gd name="adj" fmla="val 183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822960" y="2084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229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41401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 Dataflow Gen2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53312" y="268833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 -&gt; Dataflow Gen2. Nombralo DF_Dim_Fecha.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07238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en blanco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3312" y="334670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source -&gt; Blank query; usar List.Dates() para generar el rango de fechas del negocio.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76732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82296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373075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Expandir atributos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53312" y="400507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column: Anio, Mes, Trimestre y NombreMes con funciones Date.Year / Date.Month.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42569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82296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53312" y="4389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destino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53312" y="466344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destination -&gt; Lakehouse -&gt; tabla gold.dim_fecha, modo Replace.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08406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/>
          <p:nvPr/>
        </p:nvSpPr>
        <p:spPr>
          <a:xfrm>
            <a:off x="82296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53312" y="504748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53312" y="532180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Publish. Este Dataflow queda disponible para invocarse desde el pipeline maestro.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22960" y="5833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Dataflow reutilizable evita repetir la misma logica M en cada pipeline: se mantiene en un solo lugar.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Construccion de Pipelines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un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 comunes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61" y="2477841"/>
            <a:ext cx="311262" cy="3112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404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Data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17320" y="26609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datos entre origen y destino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31089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61" y="3163641"/>
            <a:ext cx="311262" cy="311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090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17320" y="33467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codigo PySpark/SparkSQL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68680" y="3794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361" y="3849441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776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40325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invocar una transformacion Power Query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68680" y="44805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361" y="4535241"/>
            <a:ext cx="311262" cy="3112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462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 / Script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417320" y="4718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T-SQL en el Warehouse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68680" y="5166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361" y="5221041"/>
            <a:ext cx="311262" cy="31126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5148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ForEach / If Condition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417320" y="54041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flujo e iteracion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Text 21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flujo y triggers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537960" y="2423160"/>
            <a:ext cx="420624" cy="42062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641" y="2477841"/>
            <a:ext cx="311262" cy="3112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86600" y="2404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Success / On Failure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7086600" y="26700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actividad define que pasa despues, segun el resultado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537960" y="3264408"/>
            <a:ext cx="420624" cy="42062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2641" y="3319089"/>
            <a:ext cx="311262" cy="31126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08660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7086600" y="35112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 recurrente (diaria, cada hora, cron personalizado)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6537960" y="4105656"/>
            <a:ext cx="420624" cy="42062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2641" y="4160337"/>
            <a:ext cx="311262" cy="31126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086600" y="4087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Tumbling window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7086600" y="43525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de tiempo con dependencia entre ejecuciones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6537960" y="4946904"/>
            <a:ext cx="420624" cy="42062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2641" y="5001585"/>
            <a:ext cx="311262" cy="31126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086600" y="49286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Parametros y variables</a:t>
            </a:r>
            <a:endParaRPr lang="en-US" sz="1350" dirty="0"/>
          </a:p>
        </p:txBody>
      </p:sp>
      <p:sp>
        <p:nvSpPr>
          <p:cNvPr id="44" name="Text 33"/>
          <p:cNvSpPr/>
          <p:nvPr/>
        </p:nvSpPr>
        <p:spPr>
          <a:xfrm>
            <a:off x="7086600" y="519379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pipeline reutilizable entre dev, test y produccion</a:t>
            </a:r>
            <a:endParaRPr lang="en-US" sz="1150" dirty="0"/>
          </a:p>
        </p:txBody>
      </p:sp>
      <p:sp>
        <p:nvSpPr>
          <p:cNvPr id="45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Construccion de Pipelines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2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maestro: todo el Modulo 2 en un flujo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encadenar Ingesta -&gt; Transformacion -&gt; Gold, con alerta si algo falla.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6608" y="1874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1656436" y="20391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04" y="2105680"/>
            <a:ext cx="378927" cy="3789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6608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Data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6608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-&gt; Bronze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7200" y="2441448"/>
            <a:ext cx="219456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35528" y="1874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4445356" y="20391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924" y="2105680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5528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535528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-&gt; Silver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20" y="2441448"/>
            <a:ext cx="219456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24448" y="1874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3"/>
          <p:cNvSpPr/>
          <p:nvPr/>
        </p:nvSpPr>
        <p:spPr>
          <a:xfrm>
            <a:off x="7234276" y="20391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0844" y="2105680"/>
            <a:ext cx="378927" cy="37892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24448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324448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040" y="2441448"/>
            <a:ext cx="219456" cy="25603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113368" y="1874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17"/>
          <p:cNvSpPr/>
          <p:nvPr/>
        </p:nvSpPr>
        <p:spPr>
          <a:xfrm>
            <a:off x="10023196" y="20391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9764" y="2105680"/>
            <a:ext cx="378927" cy="37892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13368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9113368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-&gt; Gold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0" y="33832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actividad corre “On Success” de la anterior.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548640" y="384048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Text 22"/>
          <p:cNvSpPr/>
          <p:nvPr/>
        </p:nvSpPr>
        <p:spPr>
          <a:xfrm>
            <a:off x="822960" y="40233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822960" y="4389120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24"/>
          <p:cNvSpPr/>
          <p:nvPr/>
        </p:nvSpPr>
        <p:spPr>
          <a:xfrm>
            <a:off x="82296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1207008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 -&gt; Data pipeline -&gt; PL_Modulo2_Maestro.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355080" y="4389120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27"/>
          <p:cNvSpPr/>
          <p:nvPr/>
        </p:nvSpPr>
        <p:spPr>
          <a:xfrm>
            <a:off x="635508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6739128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1: Copy Data (conexion SQL de la Sesion 1) -&gt; bronze_ventas_sql.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822960" y="4919472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9" name="Text 30"/>
          <p:cNvSpPr/>
          <p:nvPr/>
        </p:nvSpPr>
        <p:spPr>
          <a:xfrm>
            <a:off x="82296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207008" y="486460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 (On Success): Notebook o Dataflow de transformacion a Silver.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355080" y="4919472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2" name="Text 33"/>
          <p:cNvSpPr/>
          <p:nvPr/>
        </p:nvSpPr>
        <p:spPr>
          <a:xfrm>
            <a:off x="635508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6739128" y="486460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3 (On Success): Notebook que arma dim_fecha, dim_producto y fact_ventas en Gold.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822960" y="5449824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5" name="Text 36"/>
          <p:cNvSpPr/>
          <p:nvPr/>
        </p:nvSpPr>
        <p:spPr>
          <a:xfrm>
            <a:off x="822960" y="5449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1207008" y="539496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On Failure (de cualquier paso): notificacion por Teams/Email o Activator.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6355080" y="5449824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8" name="Text 39"/>
          <p:cNvSpPr/>
          <p:nvPr/>
        </p:nvSpPr>
        <p:spPr>
          <a:xfrm>
            <a:off x="6355080" y="5449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6739128" y="539496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trigger Schedule (ej. diario 6:00 a.m.) y probar Run now.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Construccion de Pipelines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errores y triggers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21685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 de reintentos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count y retry interval configurables por actividad, para fallas transitorias.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380" y="216850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On Failure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por Teams, correo o Activator apenas una actividad falla, sin esperar al final.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836676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140" y="2168500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por actividad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6676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tiempo maximo antes de marcar la actividad como fallida.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6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0" y="4363060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Schedule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y zona horaria configurables; ideal para cargas periodicas simples.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Shape 20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380" y="4363060"/>
            <a:ext cx="372161" cy="3721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Tumbling window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incrementales con dependencia estricta de la ventana de tiempo anterior.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4"/>
          <p:cNvSpPr/>
          <p:nvPr/>
        </p:nvSpPr>
        <p:spPr>
          <a:xfrm>
            <a:off x="836676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140" y="4363060"/>
            <a:ext cx="372161" cy="37216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Ejecucion manual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6676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 para pruebas, demos o recargas puntuales fuera de calendario.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Construccion de Pipelines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TECNICO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practicas de orquestacion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77240" y="2084832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965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Parametrizar entornos (dev/test/prod) con Pipeline parameters, nunca hardcodear rutas.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77240" y="2798064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77724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6791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 una tabla de control el inicio, fin y filas procesadas de cada actividad.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777240" y="3511296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77724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392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alertas On Failure: nadie deberia enterarse de un fallo por un usuario final.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777240" y="4224528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77724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105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cada paso para ser idempotente: correr el pipeline dos veces no debe duplicar datos.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18888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77240" y="4937760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81888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actividades de forma descriptiva (no “Copy data1”, “Copy data2”...).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777240" y="5650992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777240" y="5650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5532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las definiciones del pipeline con integracion Git de Fabric.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Construccion de Pipelines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 2 completo: 10 horas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822960" y="221284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307946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Sesion 1 · Ingesta de Datos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532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desde archivos, SQL, APIs y Shortcuts (sin duplicar storage).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822960" y="363016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8" y="3725266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204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Sesion 2 · Transformaciones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83080" y="395020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limpio con Power Query y PySpark; Gold como modelo semantico Direct Lake.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822960" y="504748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8" y="5142586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9377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Sesion 3 · Construccion de Pipelines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53675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orquestado, automatizado, con triggers y manejo de errores.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Construccion de Pipelines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560320"/>
            <a:ext cx="6400800" cy="6400800"/>
          </a:xfrm>
          <a:prstGeom prst="ellipse">
            <a:avLst/>
          </a:prstGeom>
          <a:solidFill>
            <a:srgbClr val="0E2E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209671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del Modulo 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dudas y casos reales de tu equipo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contacto@correo.com   ·   Modulo 2 · Ingenieria de Datos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1036</Words>
  <Application>Microsoft Office PowerPoint</Application>
  <PresentationFormat>Panorámica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2 - Sesion 3: Construccion de Pipelines</dc:title>
  <dc:subject>PptxGenJS Presentation</dc:subject>
  <dc:creator>Fabric Data Engineering</dc:creator>
  <cp:lastModifiedBy>Héctor Loja</cp:lastModifiedBy>
  <cp:revision>3</cp:revision>
  <dcterms:created xsi:type="dcterms:W3CDTF">2026-07-03T05:57:55Z</dcterms:created>
  <dcterms:modified xsi:type="dcterms:W3CDTF">2026-07-03T16:11:06Z</dcterms:modified>
</cp:coreProperties>
</file>