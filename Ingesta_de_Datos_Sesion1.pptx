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61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Presentarse, contextualizar el Modulo 2 completo (10 horas: Ingesta, Transformaciones, Pipelines) y ubicar esta sesion como el arranque: Ingesta de Datos, 4 horas, teoria + laboratorio guiado en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7411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INGENIERIA DE DATOS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de Datos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 · Fundamentos y practica con Microsoft Fabric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 · 4 HORAS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teoricos seguidos de practica inmediata en el Lakehouse de Fabric.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194108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46504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1854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Gold: el mapa que guia toda la ingesta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966960" y="1929384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9966960" y="1929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" y="2404872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548640" y="2660904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2727472"/>
            <a:ext cx="378927" cy="3789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2532888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34440" y="26426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planos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234440" y="2971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Excel, JSON, Parquet -&gt; Lakehouse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966960" y="271576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5"/>
          <p:cNvSpPr/>
          <p:nvPr/>
        </p:nvSpPr>
        <p:spPr>
          <a:xfrm>
            <a:off x="9966960" y="27157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" y="3191256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7"/>
          <p:cNvSpPr/>
          <p:nvPr/>
        </p:nvSpPr>
        <p:spPr>
          <a:xfrm>
            <a:off x="548640" y="3447288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3513856"/>
            <a:ext cx="378927" cy="3789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8640" y="331927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2344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SQL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234440" y="375818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Conexion, extraccion full e incremental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9966960" y="350215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2"/>
          <p:cNvSpPr/>
          <p:nvPr/>
        </p:nvSpPr>
        <p:spPr>
          <a:xfrm>
            <a:off x="9966960" y="350215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04672" y="3977640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4"/>
          <p:cNvSpPr/>
          <p:nvPr/>
        </p:nvSpPr>
        <p:spPr>
          <a:xfrm>
            <a:off x="548640" y="4233672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" y="4300240"/>
            <a:ext cx="378927" cy="3789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8640" y="410565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234440" y="42153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Lakes &amp; APIs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1234440" y="45445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Gen2 y consumo de APIs REST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966960" y="4288536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29"/>
          <p:cNvSpPr/>
          <p:nvPr/>
        </p:nvSpPr>
        <p:spPr>
          <a:xfrm>
            <a:off x="9966960" y="42885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04672" y="4764024"/>
            <a:ext cx="0" cy="256032"/>
          </a:xfrm>
          <a:prstGeom prst="line">
            <a:avLst/>
          </a:prstGeom>
          <a:noFill/>
          <a:ln w="19050">
            <a:solidFill>
              <a:srgbClr val="DCEB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Shape 31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8" y="5086624"/>
            <a:ext cx="378927" cy="378927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48640" y="489204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234440" y="5001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Shortcuts en OneLake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1234440" y="533095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Virtualizar datos sin copiarlos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9966960" y="507492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DCEBF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3" name="Text 36"/>
          <p:cNvSpPr/>
          <p:nvPr/>
        </p:nvSpPr>
        <p:spPr>
          <a:xfrm>
            <a:off x="9966960" y="5074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1234440" y="5824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Cierre: buenas practicas y preguntas (20 min)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es la Ingesta de Datos?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343400"/>
          </a:xfrm>
          <a:prstGeom prst="roundRect">
            <a:avLst>
              <a:gd name="adj" fmla="val 1895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proceso de mover datos desde sus sistemas de origen (archivos, bases de datos, APIs, streaming) hacia una plataforma de analitica, preservandolos en su forma mas cruda posible.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Fabric: es la capa Bronze.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fiel del origen (schema-on-read)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709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de donde vino y cuando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51206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Reprocesable: el origen crudo nunca se pierde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56692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2636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que importa hacerlo bien?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2423160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482596"/>
            <a:ext cx="338328" cy="338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Confiabilidad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858000" y="267919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pipeline (Silver, Gold, reportes) hereda errores de una mala ingesta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3264408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3323844"/>
            <a:ext cx="338328" cy="33832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32369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858000" y="35204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bien diseñados soportan mas volumen y mas fuentes sin reescribirse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63640" y="4105656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4165092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4078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858000" y="43616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y metadata desde el origen facilitan auditoria y cumplimiento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-&gt; Silver -&gt; Gold: cada capa afina la calidad y el proposito del dato.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BF1E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8C5A2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8C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2660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crudos, tal cual llegan del origen. Solo se agregan columnas de auditoria (fecha de carga, archivo origen).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965192"/>
            <a:ext cx="2697480" cy="365760"/>
          </a:xfrm>
          <a:prstGeom prst="roundRect">
            <a:avLst>
              <a:gd name="adj" fmla="val 50000"/>
            </a:avLst>
          </a:prstGeom>
          <a:solidFill>
            <a:srgbClr val="8C5A2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2296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TRABAJAMOS AQUI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611880"/>
            <a:ext cx="219456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050792" y="196596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2"/>
          <p:cNvSpPr/>
          <p:nvPr/>
        </p:nvSpPr>
        <p:spPr>
          <a:xfrm>
            <a:off x="4325112" y="22402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4325112" y="2240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325112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343400" y="3200400"/>
            <a:ext cx="2660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tipado correcto, deduplicacion y reglas de calidad. Listo para cruzar entre fuentes.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11880"/>
            <a:ext cx="219456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552944" y="196596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7"/>
          <p:cNvSpPr/>
          <p:nvPr/>
        </p:nvSpPr>
        <p:spPr>
          <a:xfrm>
            <a:off x="7827264" y="22402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18"/>
          <p:cNvSpPr/>
          <p:nvPr/>
        </p:nvSpPr>
        <p:spPr>
          <a:xfrm>
            <a:off x="7827264" y="2240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827264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845552" y="3200400"/>
            <a:ext cx="26609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agregados y semanticos, listos para reportes, dashboards e IA.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1 · Archivos Planos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mas comun: exportes de sistemas, cargas manuales, integraciones simples.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tipico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749808" y="202082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2092147"/>
            <a:ext cx="405994" cy="40599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187452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/ TXT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26080" y="187452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Universal, liviano, facil de generar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0" y="187452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tipos de dato ni esquema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961120" y="187452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Exportes puntuales, cargas manuales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5"/>
          <p:cNvSpPr/>
          <p:nvPr/>
        </p:nvSpPr>
        <p:spPr>
          <a:xfrm>
            <a:off x="749808" y="302666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" y="3097987"/>
            <a:ext cx="405994" cy="4059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63040" y="288036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(XLSX)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926080" y="288036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para negocio, multi-hoja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943600" y="288036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Lento a gran volumen, formatos mezclados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961120" y="288036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de areas no tecnicas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" y="388620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1"/>
          <p:cNvSpPr/>
          <p:nvPr/>
        </p:nvSpPr>
        <p:spPr>
          <a:xfrm>
            <a:off x="749808" y="403250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" y="4103827"/>
            <a:ext cx="405994" cy="40599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63040" y="388620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2926080" y="388620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Anidado, flexible, ideal para APIs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943600" y="388620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aplanar (flatten) para SQL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961120" y="388620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logs, eventos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48640" y="4892040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2" name="Shape 27"/>
          <p:cNvSpPr/>
          <p:nvPr/>
        </p:nvSpPr>
        <p:spPr>
          <a:xfrm>
            <a:off x="749808" y="50383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" y="5109667"/>
            <a:ext cx="405994" cy="40599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463040" y="4892040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Parquet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2926080" y="489204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Columnar, comprimido, con esquema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943600" y="4892040"/>
            <a:ext cx="2880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editable a mano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8961120" y="48920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alto, pipelines automatizados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1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 planos -&gt; Lakehouse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un CSV a Files, leerlo con PySpark y escribirlo como tabla Delta en Bronze.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el archivo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Lakehouse, seccion Files, arrastrar el CSV a una carpeta (ej. raw/ventas).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Notebook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44728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notebook de PySpark asociado al Lakehouse del laboratorio.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 con Spark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206240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spark.read.csv() indicando header y schema o inferSchema.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690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 auditoria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965192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fecha_carga y archivo_origen para trazabilidad.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449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 en Bronze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724144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saveAsTable() o write.format('delta') en modo append.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874520"/>
            <a:ext cx="5379415" cy="4480560"/>
          </a:xfrm>
          <a:prstGeom prst="roundRect">
            <a:avLst>
              <a:gd name="adj" fmla="val 1837"/>
            </a:avLst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8"/>
          <p:cNvSpPr/>
          <p:nvPr/>
        </p:nvSpPr>
        <p:spPr>
          <a:xfrm>
            <a:off x="6537960" y="20574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CODIGO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2377440"/>
            <a:ext cx="48307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(spark.read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.option("header", True)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.option("inferSchema", True)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.csv("Files/raw/ventas/*.csv"))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(df.withColumn("fecha_carga", current_timestamp())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.withColumn("archivo_origen", input_file_name()))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df.write.format("delta").mode("append") \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.saveAsTable("bronze.ventas")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2 · Bases de Datos 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8941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0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local, Oracle, MySQL. Requiere un On-premises Data Gateway para que Fabric alcance la red interna.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189418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810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nube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217920" y="233172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DB, Azure SQL MI, Synapse. Conexion directa vía conector nativo de Fabric, sin gateway.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extraccion: full vs incremental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251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4521708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" y="498348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Load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04672" y="53035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toda la tabla en cada corrida. Simple, pero costoso en tablas grandes.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389120" y="4251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17"/>
          <p:cNvSpPr/>
          <p:nvPr/>
        </p:nvSpPr>
        <p:spPr>
          <a:xfrm>
            <a:off x="4645152" y="4462272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4588" y="4521708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45152" y="498348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(watermark)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645152" y="53035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columna de fecha/ID de control; solo trae lo nuevo o modificado.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229600" y="425196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1"/>
          <p:cNvSpPr/>
          <p:nvPr/>
        </p:nvSpPr>
        <p:spPr>
          <a:xfrm>
            <a:off x="8485632" y="4462272"/>
            <a:ext cx="457200" cy="45720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5068" y="4521708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85632" y="498348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(Change Data Capture)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8485632" y="53035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inserts/updates/deletes a nivel de log de la base de datos.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2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-&gt; Lakehouse con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Data Pipeline con actividad Copy Data desde una base SQL hacia el Lakehouse.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conexion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conexion (Connection) al servidor SQL: host, autenticacion, credenciales.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Data Pipeline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44728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workspace, crear pipeline y agregar actividad Copy Data.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(Source)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206240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conexion SQL y la tabla o escribir una consulta con filtro incremental.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690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 (Destination)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965192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Lakehouse y la tabla Bronze de destino (nueva o existente).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449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y validar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724144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revisar filas copiadas y confirmar los datos en el Lakehouse.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874520"/>
            <a:ext cx="5379415" cy="4480560"/>
          </a:xfrm>
          <a:prstGeom prst="roundRect">
            <a:avLst>
              <a:gd name="adj" fmla="val 1837"/>
            </a:avLst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8"/>
          <p:cNvSpPr/>
          <p:nvPr/>
        </p:nvSpPr>
        <p:spPr>
          <a:xfrm>
            <a:off x="6537960" y="20574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CODIGO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2377440"/>
            <a:ext cx="48307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Filtro incremental sugerido en el Source (Query)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dbo.Ventas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FechaModificacion &gt; '@{pipeline().parameters.watermark}'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 3 · Data Lakes &amp; APIs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19399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Data Lake Storage Gen2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 jerarquica: contenedor / carpeta / archivo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9992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archivos de cualquier tipo y tamaño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2958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Fabric via conector nativo o Shortcut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05993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 nivel de carpeta con Azure AD / RBAC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64592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1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1939900"/>
            <a:ext cx="372161" cy="3721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REST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487168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24140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903720" y="26883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Key, OAuth2 / Bearer Token o Basic Auth segun el proveedor</a:t>
            </a:r>
            <a:endParaRPr lang="en-US" sz="11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20040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127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Paginacion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903720" y="34015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mayoria limita resultados por pagina; hay que iterar hasta agotar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9136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840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903720" y="41148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Respetar limites de peticiones por minuto para evitar bloqueos</a:t>
            </a:r>
            <a:endParaRPr lang="en-US" sz="11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62686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553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 respuesta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903720" y="48280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JSON; requiere parseo y aplanado antes de guardar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3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Consumir una API REST desde Notebook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una API publica, paginar resultados, transformar a DataFrame y guardar en Bronze.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endpoint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base, parametros de consulta y cabeceras de autenticacion.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29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Solicitar los datos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447288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capturando el JSON de respuesta.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9684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82296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206240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la llamada avanzando el parametro de pagina hasta que no haya mas datos.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7274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82296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690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el DataFrame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965192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spark.createDataFrame() sobre la lista de resultados acumulados.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8640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8229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4498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 en Bronze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724144"/>
            <a:ext cx="4389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write.format('delta').mode('append').saveAsTable().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874520"/>
            <a:ext cx="5379415" cy="4480560"/>
          </a:xfrm>
          <a:prstGeom prst="roundRect">
            <a:avLst>
              <a:gd name="adj" fmla="val 1837"/>
            </a:avLst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8"/>
          <p:cNvSpPr/>
          <p:nvPr/>
        </p:nvSpPr>
        <p:spPr>
          <a:xfrm>
            <a:off x="6537960" y="2057400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CODIGO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537960" y="2377440"/>
            <a:ext cx="483077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resultados, pagina = [], 1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requests.get(API_URL, params={"page": pagina}, headers=HEADERS)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r.json().get("data", [])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datos: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resultados.extend(datos)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pagina += 1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spark.createDataFrame(resultados)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df.write.format("delta").mode("append").saveAsTable("bronze.api_clientes")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Shortcuts en OneLake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puntero a datos que ya existen en otro lugar: sin copiarlos, sin duplicar costos.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resuelve?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duplicar datos entre Lakehouses o workspaces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datos de distintos origenes como si vivieran en el mismo lugar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94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 y consulta como una tabla o carpeta normal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611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copia real: menos costo de storage y de sincronizacion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federar datos entre equipos sin mover nada.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origen soportados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37960" y="260604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19" y="2663099"/>
            <a:ext cx="324795" cy="32479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14032" y="2587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OneLake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14032" y="28620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Lakehouses o Warehouses del mismo tenant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37960" y="338328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019" y="3440339"/>
            <a:ext cx="324795" cy="3247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33649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ADLS Gen2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7114032" y="36393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de storage de Azure fuera de Fabric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37960" y="416052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019" y="4217579"/>
            <a:ext cx="324795" cy="32479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14032" y="41422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/ GCS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7114032" y="4416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en otras nubes, sin migrar datos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537960" y="4937760"/>
            <a:ext cx="438912" cy="438912"/>
          </a:xfrm>
          <a:prstGeom prst="ellipse">
            <a:avLst/>
          </a:prstGeom>
          <a:solidFill>
            <a:srgbClr val="EAF3F6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019" y="4994819"/>
            <a:ext cx="324795" cy="32479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14032" y="49194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Dataverse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114032" y="51937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Dynamics 365 / Power Platform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50515" cy="310896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7505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E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4 · LABORATORIO GUIADO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 Shortcut en el Lakehouse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Apuntar el Lakehouse a una carpeta ADLS Gen2 (o a otro Lakehouse) sin copiar datos.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4530" y="58613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874520"/>
            <a:ext cx="10881360" cy="4480560"/>
          </a:xfrm>
          <a:prstGeom prst="roundRect">
            <a:avLst>
              <a:gd name="adj" fmla="val 183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45059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3312" y="2414016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el Lakehouse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53312" y="268833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Tables o Files, clic derecho -&gt; New shortcut.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10896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53312" y="3072384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el origen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3312" y="334670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OneLake, ADLS Gen2, Amazon S3, Google Cloud Storage o Dataverse.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6"/>
          <p:cNvSpPr/>
          <p:nvPr/>
        </p:nvSpPr>
        <p:spPr>
          <a:xfrm>
            <a:off x="8229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53312" y="3730752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conexion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353312" y="400507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recurso y credenciales/conexion (si el origen es externo).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442569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0"/>
          <p:cNvSpPr/>
          <p:nvPr/>
        </p:nvSpPr>
        <p:spPr>
          <a:xfrm>
            <a:off x="82296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53312" y="438912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Seleccionar la ruta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353312" y="46634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contenedor/carpeta especifica a enlazar.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08406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7" name="Text 24"/>
          <p:cNvSpPr/>
          <p:nvPr/>
        </p:nvSpPr>
        <p:spPr>
          <a:xfrm>
            <a:off x="82296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353312" y="5047488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353312" y="53218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shortcut aparece como carpeta o tabla; probar una lectura de ejemplo.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22960" y="5833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shortcut no copia datos: lee siempre la fuente original en tiempo real.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TECNICO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practicas de ingesta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Convenciones de nombres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Prefijos claros (bronze_, raw_), consistentes entre fuentes y equipos.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380" y="21685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y metadata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fecha de carga, origen, filas procesadas y estado de cada corrida.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366760" y="2103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140" y="21685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Idempotencia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304495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MERGE sobre append ciego cuando el proceso puede reejecutarse.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5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436306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errores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 controlados y cuarentena de registros que fallan validacion.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19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380" y="436306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Particionado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Particionar por fecha para acelerar lecturas y mantenimiento de tablas Delta.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Shape 23"/>
          <p:cNvSpPr/>
          <p:nvPr/>
        </p:nvSpPr>
        <p:spPr>
          <a:xfrm>
            <a:off x="83667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140" y="436306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credenciales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52395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secretos: usar Key Vault o conexiones administradas.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822960" y="221284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307946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031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Medallon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guarda el dato crudo; base de todo lo que sigue en Silver y Gold.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7"/>
          <p:cNvSpPr/>
          <p:nvPr/>
        </p:nvSpPr>
        <p:spPr>
          <a:xfrm>
            <a:off x="822960" y="363016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3725266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20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Archivos, SQL, Lagos y APIs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395020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formas de traer datos a Fabric, cada una con su propia logica de extraccion.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  <a:effectLst>
            <a:outerShdw blurRad="127000" dist="38100" dir="5400000" algn="bl" rotWithShape="0">
              <a:srgbClr val="0B3D5C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1"/>
          <p:cNvSpPr/>
          <p:nvPr/>
        </p:nvSpPr>
        <p:spPr>
          <a:xfrm>
            <a:off x="822960" y="5047488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8" y="5142586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377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3675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alternativa a copiar datos: virtualizar el acceso entre fuentes y workspaces.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Ingesta de Datos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5486400" cy="5486400"/>
          </a:xfrm>
          <a:prstGeom prst="ellipse">
            <a:avLst/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" y="87828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SESION · MODULO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Transformaciones de Datos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Query, PySpark &amp; SparkSQL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 de Capa Semantica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 y buenas practicas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Bronze a datos listos para analizar.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"/>
            <a:ext cx="6400800" cy="6400800"/>
          </a:xfrm>
          <a:prstGeom prst="ellipse">
            <a:avLst/>
          </a:prstGeom>
          <a:solidFill>
            <a:srgbClr val="0E2E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dudas y casos reales de tu equipo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contacto@correo.com   ·   Modulo 2 · Ingenieria de 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1793</Words>
  <Application>Microsoft Office PowerPoint</Application>
  <PresentationFormat>Panorámica</PresentationFormat>
  <Paragraphs>307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Sesion 1: Ingesta de Datos</dc:title>
  <dc:subject>PptxGenJS Presentation</dc:subject>
  <dc:creator>Fabric Data Engineering</dc:creator>
  <cp:lastModifiedBy>Héctor Loja</cp:lastModifiedBy>
  <cp:revision>2</cp:revision>
  <dcterms:created xsi:type="dcterms:W3CDTF">2026-07-02T07:10:14Z</dcterms:created>
  <dcterms:modified xsi:type="dcterms:W3CDTF">2026-07-02T17:24:25Z</dcterms:modified>
</cp:coreProperties>
</file>