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 la Sesion 2. Recordar el hilo del curso: en la Sesion 1 llenamos Bronze con archivos, SQL, APIs y shortcuts. Hoy transformamos ese Bronze en Silver (datos limpios) y Gold (modelo semantico de negocio).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0E2E4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7411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INGENIERIA DE DATOS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Transformaciones de Datos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2 · De Bronze a un modelo semantico listo para analizar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297680"/>
            <a:ext cx="819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74520" y="4297680"/>
            <a:ext cx="1623974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1874520" y="4297680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+ PRACTICA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60520" y="4297680"/>
            <a:ext cx="2428646" cy="310896"/>
          </a:xfrm>
          <a:prstGeom prst="roundRect">
            <a:avLst>
              <a:gd name="adj" fmla="val 50000"/>
            </a:avLst>
          </a:prstGeom>
          <a:solidFill>
            <a:srgbClr val="12556E"/>
          </a:solidFill>
          <a:ln/>
        </p:spPr>
      </p:sp>
      <p:sp>
        <p:nvSpPr>
          <p:cNvPr id="14" name="Text 11"/>
          <p:cNvSpPr/>
          <p:nvPr/>
        </p:nvSpPr>
        <p:spPr>
          <a:xfrm>
            <a:off x="4160520" y="4297680"/>
            <a:ext cx="2428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· PYSPARK · SQL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_______________        Fecha: 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2 · 4 HORAS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capa Bronze (cruda) a Silver (limpia) y Gold (modelo de negocio).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19939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739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19019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&amp; Dataflows Gen2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25880" y="22677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 visual, low-code: Bronze -&gt; Silver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966960" y="20116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</p:sp>
      <p:sp>
        <p:nvSpPr>
          <p:cNvPr id="11" name="Text 8"/>
          <p:cNvSpPr/>
          <p:nvPr/>
        </p:nvSpPr>
        <p:spPr>
          <a:xfrm>
            <a:off x="9966960" y="20116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2104" y="2523744"/>
            <a:ext cx="0" cy="329184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852928"/>
            <a:ext cx="566928" cy="566928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2926629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27066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25880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&amp; SparkSQL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325880" y="3200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 con codigo: control total y reutilizable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966960" y="294436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</p:sp>
      <p:sp>
        <p:nvSpPr>
          <p:cNvPr id="19" name="Text 15"/>
          <p:cNvSpPr/>
          <p:nvPr/>
        </p:nvSpPr>
        <p:spPr>
          <a:xfrm>
            <a:off x="9966960" y="29443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min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32104" y="3456432"/>
            <a:ext cx="0" cy="329184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785616"/>
            <a:ext cx="566928" cy="566928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3859317"/>
            <a:ext cx="419527" cy="4195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36393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325880" y="37673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Semantica (Gold)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325880" y="41330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medidas y Direct Lake para Power BI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9966960" y="3877056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</p:sp>
      <p:sp>
        <p:nvSpPr>
          <p:cNvPr id="27" name="Text 22"/>
          <p:cNvSpPr/>
          <p:nvPr/>
        </p:nvSpPr>
        <p:spPr>
          <a:xfrm>
            <a:off x="9966960" y="38770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min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32104" y="4389120"/>
            <a:ext cx="0" cy="329184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4718304"/>
            <a:ext cx="566928" cy="566928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4792005"/>
            <a:ext cx="419527" cy="41952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" y="4572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325880" y="47000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Optimizacion y buenas practicas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1325880" y="50657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V-Order, OPTIMIZE, particionado, Z-Order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9966960" y="4809744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</p:sp>
      <p:sp>
        <p:nvSpPr>
          <p:cNvPr id="35" name="Text 29"/>
          <p:cNvSpPr/>
          <p:nvPr/>
        </p:nvSpPr>
        <p:spPr>
          <a:xfrm>
            <a:off x="9966960" y="4809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1325880" y="5696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Recapitulacion inicial y cierre con preview de la Sesion 3 (15 min)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¿Donde quedamos la sesion pasada?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tenemos en Bronze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9" y="2525939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4505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bronze.ventas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44752" y="27249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CSV (Practica 1)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31821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9" y="3239171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3163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bronze_ventas_sql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44752" y="34381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SQL via Pipeline (Practica 2)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68680" y="38953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9" y="3952403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8770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bronze.api_pokemon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44752" y="41513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API REST (Practica 3)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8680" y="46085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39" y="4665635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44752" y="4590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 activo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444752" y="48646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datos externos sin copiar (Practica 4)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hoy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37960" y="23774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Bronze esta crudo: fechas sin tipo correcto, posibles duplicados, sin relaciones entre tablas. Hoy construimos Silver (datos validados) y Gold (modelo de negocio: hechos y dimensiones) para que Power BI consuma algo confiable y rapido.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537960" y="420624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3F6"/>
          </a:solidFill>
          <a:ln/>
        </p:spPr>
      </p:sp>
      <p:sp>
        <p:nvSpPr>
          <p:cNvPr id="27" name="Text 21"/>
          <p:cNvSpPr/>
          <p:nvPr/>
        </p:nvSpPr>
        <p:spPr>
          <a:xfrm>
            <a:off x="6537960" y="4206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343400"/>
            <a:ext cx="182880" cy="2286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092440" y="420624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AF3F6"/>
          </a:solidFill>
          <a:ln/>
        </p:spPr>
      </p:sp>
      <p:sp>
        <p:nvSpPr>
          <p:cNvPr id="30" name="Text 23"/>
          <p:cNvSpPr/>
          <p:nvPr/>
        </p:nvSpPr>
        <p:spPr>
          <a:xfrm>
            <a:off x="8092440" y="4206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3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343400"/>
            <a:ext cx="182880" cy="2286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9646920" y="420624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F2A541"/>
          </a:solidFill>
          <a:ln/>
        </p:spPr>
      </p:sp>
      <p:sp>
        <p:nvSpPr>
          <p:cNvPr id="33" name="Text 25"/>
          <p:cNvSpPr/>
          <p:nvPr/>
        </p:nvSpPr>
        <p:spPr>
          <a:xfrm>
            <a:off x="9646920" y="4206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537960" y="4937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en Fabric permite a Power BI leer Gold sin duplicar el dato ni esperar un refresh.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&amp; Dataflows Gen2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 visual, low-code, basada en el lenguaje 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es un Dataflow Gen2?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Power Query dentro de Fabric: una canvas visual donde cada paso (filtrar, unir, agrupar) queda registrado y es editable. Se conecta a multiples origenes y escribe el resultado directo en un Lakehouse o Warehouse.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columnas y duplicados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79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tipos de datos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718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(Merge) y anexar (Append) queries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157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(Group by) y pivotear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¿Cuando usarlo (vs. codigo)?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251460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019" y="2571659"/>
            <a:ext cx="324795" cy="32479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14032" y="24963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negocio/analista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14032" y="2770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escribir codigo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37960" y="329184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019" y="3348899"/>
            <a:ext cx="324795" cy="32479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4032" y="3273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Transformaciones visibles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114032" y="35478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queda documentado visualmente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37960" y="406908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019" y="4126139"/>
            <a:ext cx="324795" cy="32479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14032" y="4050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medio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114032" y="43251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volumenes muy grandes, PySpark escala mejor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537960" y="484632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019" y="4903379"/>
            <a:ext cx="324795" cy="32479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14032" y="4828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Reutilizable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114032" y="51023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Dataflow puede alimentar varios reports o pipelines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1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-&gt; Silver con Dataflow Gen2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bronze.ventas de forma visual y publicarla como tabla Silver limpia.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1088136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84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Dataflow Gen2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workspace, New item -&gt; Dataflow Gen2. Nombralo DF_Silver_Ventas.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299923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296265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data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23697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Lakehouse -&gt; LH_Bronze_Ingesta -&gt; tabla bronze.ventas.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5478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51129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Limpiar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378561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por VentaID, Change type en Fecha y PrecioUnitario, Trim en Cliente.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09651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05993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Enriquecer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33425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column: Anio = Date.Year([Fecha]), Mes = Date.Month([Fecha]).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464515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460857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destino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488289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destination -&gt; Lakehouse -&gt; tabla silver.ventas, modo Replace.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22960" y="51937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353312" y="515721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353312" y="543153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 luego Refresh now; validar filas resultantes.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22960" y="5833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queda listado en el panel “Applied steps”: se puede reordenar, editar o eliminar sin tocar codigo.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&amp; SparkSQL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transformacion, dos sintaxis: DataFrame API y SQL.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0E2E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A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API (PySpark)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(df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.filter(df.Cantidad &gt; 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.groupBy("Region")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.agg(F.sum("Total").alias("total_region")))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versionable, ideal para logica compleja y pipelines automatizados.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0E2E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A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SparkSQL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df.createOrReplaceTempView("v_ventas")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spark.sql("""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337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Region, SUM(Total) AS total_region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v_ventas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886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Cantidad &gt;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Region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434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familiar para quien ya sabe SQL; convive en la misma celda que PySpark.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2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Notebook: consolidar y limpiar en Silver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bronze.ventas y bronze_ventas_sql, deduplicar y escribir una Silver consolidada.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ambas fuentes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spark.table() sobre bronze.ventas y bronze_ventas_sql.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172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Unificar esquema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44728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 con las mismas columnas y tipos en ambos DataFrames.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931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 y deduplicar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206240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unionByName() y luego dropDuplicates(['VentaID']).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7274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690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Castear tipos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965192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cast() a DecimalType en montos, DateType en Fecha.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449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Escribir en Silver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724144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write.format('delta').mode('overwrite').saveAsTable().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63640" y="1874520"/>
            <a:ext cx="5379415" cy="4480560"/>
          </a:xfrm>
          <a:prstGeom prst="roundRect">
            <a:avLst>
              <a:gd name="adj" fmla="val 1837"/>
            </a:avLst>
          </a:prstGeom>
          <a:solidFill>
            <a:srgbClr val="0E2E42"/>
          </a:solidFill>
          <a:ln/>
        </p:spPr>
      </p:sp>
      <p:sp>
        <p:nvSpPr>
          <p:cNvPr id="31" name="Text 28"/>
          <p:cNvSpPr/>
          <p:nvPr/>
        </p:nvSpPr>
        <p:spPr>
          <a:xfrm>
            <a:off x="6537960" y="205740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CODIGO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37960" y="2377440"/>
            <a:ext cx="483077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functions as F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pyspark.sql.types import DecimalType, DateType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= spark.table("bronze.ventas").select(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"VentaID","Fecha","Cliente","Producto","Categoria",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"Cantidad","PrecioUnitario","Total","Region","Vendedor")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= spark.table("bronze_ventas_sql").select(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"VentaID","Fecha","Cliente","Producto","Categoria",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"Cantidad","PrecioUnitario","Total","Region","Vendedor")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 = (b1.unionByName(b2)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.dropDuplicates(["VentaID"])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.withColumn("Fecha", F.col("Fecha").cast(DateType()))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.withColumn("Total", F.col("Total").cast(DecimalType(12,2))))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silver.write.format("delta").mode("overwrite") \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.saveAsTable("silver.ventas_consolidado")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Semantica (Gold)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negocio: tablas de hechos y dimensiones, listas para Power BI.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20240" y="329184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2024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fact_ventas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1828800" cy="731520"/>
          </a:xfrm>
          <a:prstGeom prst="roundRect">
            <a:avLst>
              <a:gd name="adj" fmla="val 11250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dim_cliente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91640" y="2148840"/>
            <a:ext cx="1417320" cy="16002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1828800" cy="731520"/>
          </a:xfrm>
          <a:prstGeom prst="roundRect">
            <a:avLst>
              <a:gd name="adj" fmla="val 11250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H="1">
            <a:off x="3108960" y="2148840"/>
            <a:ext cx="2148840" cy="16002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800600"/>
            <a:ext cx="1828800" cy="731520"/>
          </a:xfrm>
          <a:prstGeom prst="roundRect">
            <a:avLst>
              <a:gd name="adj" fmla="val 11250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800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dim_fecha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H="1">
            <a:off x="1691640" y="3749040"/>
            <a:ext cx="1417320" cy="1417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4800600"/>
            <a:ext cx="1828800" cy="731520"/>
          </a:xfrm>
          <a:prstGeom prst="roundRect">
            <a:avLst>
              <a:gd name="adj" fmla="val 11250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4800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dim_region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08960" y="3749040"/>
            <a:ext cx="2148840" cy="1417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estrella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182880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clave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12280" y="256032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9339" y="2617379"/>
            <a:ext cx="324795" cy="32479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88352" y="2542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hechos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88352" y="28163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transaccion (venta); solo metricas y llaves foraneas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12280" y="333756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39" y="3394619"/>
            <a:ext cx="324795" cy="32479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88352" y="3319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Dimensiones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7388352" y="35935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describen el contexto: quien, que, cuando, donde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812280" y="411480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339" y="4171859"/>
            <a:ext cx="324795" cy="32479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388352" y="40965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DAX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7388352" y="43708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calculos que se agregan en tiempo de consulta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812280" y="489204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339" y="4949099"/>
            <a:ext cx="324795" cy="32479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388352" y="4873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Lake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7388352" y="51480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lee las tablas Delta de Gold directo, sin importar ni esperar refresh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3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el modelo Gold (hechos + dimensiones)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dim_producto, dim_cliente, dim_fecha y fact_ventas desde Silver, y crear el modelo semantico.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dimensiones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 de Silver para dim_cliente, dim_producto, dim_region (con ID autogenerado).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172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dim_fecha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44728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calendario generada por rango de fechas (una fila por dia).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931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fact_ventas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206240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de silver.ventas_consolidado con las dimensiones para obtener las llaves foraneas.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7274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690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modelo semantico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965192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-&gt; Semantic model, seleccionar las 4 tablas Gold, modo Direct Lake.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449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 medida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724144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Ventas = SUM(fact_ventas[Total]) en el editor de medidas.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63640" y="1874520"/>
            <a:ext cx="5379415" cy="4480560"/>
          </a:xfrm>
          <a:prstGeom prst="roundRect">
            <a:avLst>
              <a:gd name="adj" fmla="val 1837"/>
            </a:avLst>
          </a:prstGeom>
          <a:solidFill>
            <a:srgbClr val="0E2E42"/>
          </a:solidFill>
          <a:ln/>
        </p:spPr>
      </p:sp>
      <p:sp>
        <p:nvSpPr>
          <p:cNvPr id="31" name="Text 28"/>
          <p:cNvSpPr/>
          <p:nvPr/>
        </p:nvSpPr>
        <p:spPr>
          <a:xfrm>
            <a:off x="6537960" y="205740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CODIGO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37960" y="2377440"/>
            <a:ext cx="483077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TABLE gold.dim_producto AS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ROW_NUMBER() OVER (ORDER BY Producto) AS ProductoID,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Producto, Categoria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(SELECT DISTINCT Producto, Categoria FROM silver.ventas_consolidado);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TABLE gold.fact_ventas AS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v.VentaID, p.ProductoID, v.Fecha, v.Cantidad, v.Total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silver.ventas_consolidado v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gold.dim_producto p ON p.Producto = v.Producto;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Optimizacion y buenas practicas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1685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V-Order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escritura Delta optimizado para lectura; activo por defecto en Spark de Fabric.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80" y="216850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+ VACUUM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Compacta archivos pequeños y limpia versiones antiguas de la tabla Delta.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140" y="2168500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Particionado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676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fecha o region cuando el volumen lo justifica; evita sobre-particionar tablas chicas.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4363060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Z-Order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 datos fisicamente por columnas de filtro frecuente (ej. Region, Producto).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80" y="4363060"/>
            <a:ext cx="372161" cy="3721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en notebooks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df.cache() cuando el mismo DataFrame se reutiliza varias veces en la sesion.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140" y="4363060"/>
            <a:ext cx="372161" cy="3721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transformaciones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6676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capa consistentes, comentarios en pasos no obvios, probar con muestras chicas primero.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30794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&amp; Dataflows Gen2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 visual, ideal para logica low-code y reutilizable.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3016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3725266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20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 &amp; SparkSQL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395020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 con codigo: control total sobre limpieza y consolidacion.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27000" dist="38100" dir="5400000">
              <a:srgbClr val="0B3D5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0474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5142586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9377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Semantica (Gold)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3675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Direct Lake: la base de todo reporte en Power BI.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Transformaciones de Datos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E2E4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77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87828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SESION · MODULO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Construccion de Pipelines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Dataflows reutilizables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Pipelines: actividades, triggers y orquestacion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Ensamblar Ingesta + Transformaciones en un solo flujo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piezas sueltas a un pipeline que corre solo.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560320"/>
            <a:ext cx="6400800" cy="6400800"/>
          </a:xfrm>
          <a:prstGeom prst="ellipse">
            <a:avLst/>
          </a:prstGeom>
          <a:solidFill>
            <a:srgbClr val="0E2E42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687" y="209671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dudas y casos reales de tu equipo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contacto@correo.com   ·   Modulo 2 · Ingenieria de 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2 - Sesion 2: Transformaciones de Datos</dc:title>
  <dc:subject>PptxGenJS Presentation</dc:subject>
  <dc:creator>Fabric Data Engineering</dc:creator>
  <cp:lastModifiedBy>Fabric Data Engineering</cp:lastModifiedBy>
  <cp:revision>1</cp:revision>
  <dcterms:created xsi:type="dcterms:W3CDTF">2026-07-03T16:00:08Z</dcterms:created>
  <dcterms:modified xsi:type="dcterms:W3CDTF">2026-07-03T16:00:08Z</dcterms:modified>
</cp:coreProperties>
</file>